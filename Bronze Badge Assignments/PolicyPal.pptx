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2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38AF2"/>
    <a:srgbClr val="49B0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6431-A8D6-4564-A742-228ED5F358FD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C1B8A7-1CF8-4959-AE04-4A844F6C7D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2862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3E725-7F70-40B3-93A4-69B9B8AE451F}" type="datetime1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6195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76CEC-0797-4E2D-A9FC-CABF447D1469}" type="datetime1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645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AAB1A-C885-41C4-B8D1-2E1CF05A77B3}" type="datetime1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722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57869-0DBC-489A-AFC0-058C02FFB847}" type="datetime1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7008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050C-E672-4145-A0AD-C47F6A645A9F}" type="datetime1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0081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F1D6EB-432B-4E03-85C5-833AF7CEFAB0}" type="datetime1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049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A2DDA-0CB3-49DA-AA22-4068F08D686B}" type="datetime1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63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DA749-2E28-40C1-918B-1BE37604AAA9}" type="datetime1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863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951D0-804A-4A0B-B70A-DF407DD846C6}" type="datetime1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771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28F55-315B-4EAF-8395-4E3BF934269F}" type="datetime1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747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A29C3-53E6-454A-B61B-176D1BB2F74E}" type="datetime1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7257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7671D-405C-4FF1-8794-D11A168AE62B}" type="datetime1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649491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5EC34-93C3-43A0-8E20-5E1946826F5B}" type="datetime1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8654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AC21-8591-422B-9A86-3A0D937AE7F4}" type="datetime1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55191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DDB9F-67FE-44F0-BE2C-FB7F89A98209}" type="datetime1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8452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F89FB-7382-4503-85DE-E27B2D7EB547}" type="datetime1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6487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424183-6A8D-452F-AF4E-3FB139217415}" type="datetime1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93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3000">
              <a:schemeClr val="accent1">
                <a:lumMod val="51000"/>
                <a:lumOff val="49000"/>
              </a:schemeClr>
            </a:gs>
            <a:gs pos="31000">
              <a:schemeClr val="bg2">
                <a:tint val="97000"/>
                <a:hueMod val="92000"/>
                <a:satMod val="169000"/>
                <a:alpha val="85000"/>
                <a:lumMod val="42000"/>
              </a:schemeClr>
            </a:gs>
            <a:gs pos="81000">
              <a:schemeClr val="accent1">
                <a:lumMod val="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F77B5FBA-2FBA-4F8D-8463-1AB8E96A9E27}" type="datetime1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r>
              <a:rPr lang="en-US" smtClean="0"/>
              <a:t>Presented by Gopal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1009A3D-BD1F-4C61-AD6F-60BD5D723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91930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3" r:id="rId1"/>
    <p:sldLayoutId id="2147483824" r:id="rId2"/>
    <p:sldLayoutId id="2147483825" r:id="rId3"/>
    <p:sldLayoutId id="2147483826" r:id="rId4"/>
    <p:sldLayoutId id="2147483827" r:id="rId5"/>
    <p:sldLayoutId id="2147483828" r:id="rId6"/>
    <p:sldLayoutId id="2147483829" r:id="rId7"/>
    <p:sldLayoutId id="2147483830" r:id="rId8"/>
    <p:sldLayoutId id="2147483831" r:id="rId9"/>
    <p:sldLayoutId id="2147483832" r:id="rId10"/>
    <p:sldLayoutId id="2147483833" r:id="rId11"/>
    <p:sldLayoutId id="2147483834" r:id="rId12"/>
    <p:sldLayoutId id="2147483835" r:id="rId13"/>
    <p:sldLayoutId id="2147483836" r:id="rId14"/>
    <p:sldLayoutId id="2147483837" r:id="rId15"/>
    <p:sldLayoutId id="2147483838" r:id="rId16"/>
    <p:sldLayoutId id="2147483839" r:id="rId17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localhost:8501/" TargetMode="Externa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4281" y="1622537"/>
            <a:ext cx="11987719" cy="1636230"/>
          </a:xfrm>
        </p:spPr>
        <p:txBody>
          <a:bodyPr/>
          <a:lstStyle/>
          <a:p>
            <a:pPr algn="ctr"/>
            <a:r>
              <a:rPr lang="en-US" dirty="0" smtClean="0">
                <a:latin typeface="Algerian" panose="04020705040A02060702" pitchFamily="82" charset="0"/>
              </a:rPr>
              <a:t>Policypal - Policy </a:t>
            </a:r>
            <a:r>
              <a:rPr lang="en-US" dirty="0">
                <a:latin typeface="Algerian" panose="04020705040A02060702" pitchFamily="82" charset="0"/>
              </a:rPr>
              <a:t>&amp; </a:t>
            </a:r>
            <a:r>
              <a:rPr lang="en-US" dirty="0" smtClean="0">
                <a:latin typeface="Algerian" panose="04020705040A02060702" pitchFamily="82" charset="0"/>
              </a:rPr>
              <a:t>Claims </a:t>
            </a:r>
            <a:r>
              <a:rPr lang="en-US" dirty="0">
                <a:latin typeface="Algerian" panose="04020705040A02060702" pitchFamily="82" charset="0"/>
              </a:rPr>
              <a:t>Copilot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97740" y="3499634"/>
            <a:ext cx="6400800" cy="854593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 smtClean="0">
                <a:solidFill>
                  <a:schemeClr val="accent1">
                    <a:lumMod val="75000"/>
                  </a:schemeClr>
                </a:solidFill>
                <a:latin typeface="Imprint MT Shadow" panose="04020605060303030202" pitchFamily="82" charset="0"/>
              </a:rPr>
              <a:t>AI-powered </a:t>
            </a: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Imprint MT Shadow" panose="04020605060303030202" pitchFamily="82" charset="0"/>
              </a:rPr>
              <a:t>Policy Assistance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-91440" y="6304280"/>
            <a:ext cx="12052570" cy="403698"/>
          </a:xfrm>
        </p:spPr>
        <p:txBody>
          <a:bodyPr/>
          <a:lstStyle/>
          <a:p>
            <a:pPr algn="r"/>
            <a:r>
              <a:rPr lang="en-US" sz="2000" b="1" dirty="0" smtClean="0">
                <a:solidFill>
                  <a:schemeClr val="tx1">
                    <a:lumMod val="95000"/>
                  </a:schemeClr>
                </a:solidFill>
                <a:latin typeface="Rockwell" panose="02060603020205020403" pitchFamily="18" charset="0"/>
              </a:rPr>
              <a:t>Presented by Gopal</a:t>
            </a:r>
            <a:endParaRPr lang="en-US" sz="2000" b="1" dirty="0">
              <a:solidFill>
                <a:schemeClr val="tx1">
                  <a:lumMod val="95000"/>
                </a:schemeClr>
              </a:solidFill>
              <a:latin typeface="Rockwell" panose="02060603020205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9275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0"/>
                            </p:stCondLst>
                            <p:childTnLst>
                              <p:par>
                                <p:cTn id="14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2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3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4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5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6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7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8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9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 flip="none" rotWithShape="1">
          <a:gsLst>
            <a:gs pos="53000">
              <a:schemeClr val="accent1">
                <a:lumMod val="51000"/>
                <a:lumOff val="49000"/>
              </a:schemeClr>
            </a:gs>
            <a:gs pos="31000">
              <a:schemeClr val="bg2">
                <a:tint val="97000"/>
                <a:hueMod val="92000"/>
                <a:satMod val="169000"/>
                <a:alpha val="85000"/>
                <a:lumMod val="42000"/>
              </a:schemeClr>
            </a:gs>
            <a:gs pos="81000">
              <a:schemeClr val="accent1">
                <a:lumMod val="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375708"/>
            <a:ext cx="8534400" cy="804515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lgerian" panose="04020705040A02060702" pitchFamily="82" charset="0"/>
              </a:rPr>
              <a:t>Problem Statement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684211" y="1332051"/>
            <a:ext cx="9753567" cy="39652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2200" b="1" i="0" u="none" strike="noStrike" cap="none" normalizeH="0" baseline="0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Customers struggle to interpret complex insurance policies.</a:t>
            </a:r>
          </a:p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2200" b="1" i="0" u="none" strike="noStrike" cap="none" normalizeH="0" baseline="0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Manual support is slow, inconsistent, and costly.</a:t>
            </a:r>
          </a:p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2200" b="1" i="0" u="none" strike="noStrike" cap="none" normalizeH="0" baseline="0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Claims teams spend time on repetitive, rule-based checks.</a:t>
            </a:r>
          </a:p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2200" b="1" i="0" u="none" strike="noStrike" cap="none" normalizeH="0" baseline="0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Business needs instant, accurate, contextual answers</a:t>
            </a:r>
            <a:r>
              <a:rPr kumimoji="0" lang="en-US" altLang="en-US" sz="2200" b="1" i="0" u="none" strike="noStrike" cap="none" normalizeH="0" baseline="0" dirty="0" smtClean="0">
                <a:ln>
                  <a:solidFill>
                    <a:schemeClr val="accent1"/>
                  </a:solidFill>
                </a:ln>
                <a:solidFill>
                  <a:schemeClr val="accent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4211" y="6298659"/>
            <a:ext cx="11348903" cy="471791"/>
          </a:xfrm>
        </p:spPr>
        <p:txBody>
          <a:bodyPr/>
          <a:lstStyle/>
          <a:p>
            <a:pPr algn="r"/>
            <a:r>
              <a:rPr lang="en-US" sz="2000" b="1" dirty="0">
                <a:solidFill>
                  <a:schemeClr val="tx1">
                    <a:lumMod val="95000"/>
                  </a:schemeClr>
                </a:solidFill>
                <a:latin typeface="Rockwell" panose="02060603020205020403" pitchFamily="18" charset="0"/>
              </a:rPr>
              <a:t>Presented by Gopal</a:t>
            </a:r>
          </a:p>
        </p:txBody>
      </p:sp>
    </p:spTree>
    <p:extLst>
      <p:ext uri="{BB962C8B-B14F-4D97-AF65-F5344CB8AC3E}">
        <p14:creationId xmlns:p14="http://schemas.microsoft.com/office/powerpoint/2010/main" val="35410683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375338"/>
            <a:ext cx="8534400" cy="804515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lgerian" panose="04020705040A02060702" pitchFamily="82" charset="0"/>
              </a:rPr>
              <a:t>Solution Overview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4211" y="6386209"/>
            <a:ext cx="11348903" cy="471791"/>
          </a:xfrm>
        </p:spPr>
        <p:txBody>
          <a:bodyPr/>
          <a:lstStyle/>
          <a:p>
            <a:pPr algn="r"/>
            <a:r>
              <a:rPr lang="en-US" sz="2000" b="1" dirty="0">
                <a:solidFill>
                  <a:schemeClr val="tx1">
                    <a:lumMod val="95000"/>
                  </a:schemeClr>
                </a:solidFill>
                <a:latin typeface="Rockwell" panose="02060603020205020403" pitchFamily="18" charset="0"/>
              </a:rPr>
              <a:t>Presented by Gopal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572451" y="1084988"/>
            <a:ext cx="10522269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200" b="1" dirty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PolicyPal Chatbot built with Retrieval-Augmented Generation (RAG) + LLM</a:t>
            </a:r>
            <a:r>
              <a:rPr lang="en-US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.</a:t>
            </a:r>
          </a:p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Provides </a:t>
            </a:r>
            <a:r>
              <a:rPr lang="en-US" altLang="en-US" sz="2200" b="1" dirty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natural language Q&amp;A on policy documents</a:t>
            </a:r>
            <a:r>
              <a:rPr lang="en-US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.</a:t>
            </a:r>
          </a:p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Applies </a:t>
            </a:r>
            <a:r>
              <a:rPr lang="en-US" altLang="en-US" sz="2200" b="1" dirty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pre-check validation rules for </a:t>
            </a:r>
            <a:r>
              <a:rPr lang="en-US" altLang="en-US" sz="2200" b="1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quick </a:t>
            </a:r>
            <a:r>
              <a:rPr lang="en-US" altLang="en-US" sz="2200" b="1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response.</a:t>
            </a:r>
            <a:endParaRPr lang="en-US" altLang="en-US" sz="2200" b="1" dirty="0" smtClean="0">
              <a:ln>
                <a:solidFill>
                  <a:schemeClr val="accent1"/>
                </a:solidFill>
              </a:ln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Integrates </a:t>
            </a:r>
            <a:r>
              <a:rPr lang="en-US" altLang="en-US" sz="2200" b="1" dirty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with existing policy PDFs and scales to multiple policies.</a:t>
            </a:r>
            <a:endParaRPr kumimoji="0" lang="en-US" altLang="en-US" sz="2200" b="1" i="0" u="none" strike="noStrike" cap="none" normalizeH="0" baseline="0" dirty="0" smtClean="0">
              <a:ln>
                <a:solidFill>
                  <a:schemeClr val="accent1"/>
                </a:solidFill>
              </a:ln>
              <a:solidFill>
                <a:schemeClr val="accent1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1480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9120" y="72150"/>
            <a:ext cx="9526719" cy="715885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lgerian" panose="04020705040A02060702" pitchFamily="82" charset="0"/>
              </a:rPr>
              <a:t>System Architecture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79120" y="6466114"/>
            <a:ext cx="11416348" cy="284571"/>
          </a:xfrm>
        </p:spPr>
        <p:txBody>
          <a:bodyPr/>
          <a:lstStyle/>
          <a:p>
            <a:pPr algn="r"/>
            <a:r>
              <a:rPr lang="en-US" sz="2000" b="1" dirty="0">
                <a:solidFill>
                  <a:schemeClr val="tx1">
                    <a:lumMod val="95000"/>
                  </a:schemeClr>
                </a:solidFill>
                <a:latin typeface="Rockwell" panose="02060603020205020403" pitchFamily="18" charset="0"/>
              </a:rPr>
              <a:t>Presented by Gopal</a:t>
            </a:r>
          </a:p>
        </p:txBody>
      </p:sp>
      <p:pic>
        <p:nvPicPr>
          <p:cNvPr id="12" name="Picture Placeholder 11"/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7" b="1067"/>
          <a:stretch>
            <a:fillRect/>
          </a:stretch>
        </p:blipFill>
        <p:spPr>
          <a:xfrm>
            <a:off x="65314" y="788036"/>
            <a:ext cx="12055151" cy="5678078"/>
          </a:xfrm>
        </p:spPr>
      </p:pic>
    </p:spTree>
    <p:extLst>
      <p:ext uri="{BB962C8B-B14F-4D97-AF65-F5344CB8AC3E}">
        <p14:creationId xmlns:p14="http://schemas.microsoft.com/office/powerpoint/2010/main" val="3094417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 flip="none" rotWithShape="1">
          <a:gsLst>
            <a:gs pos="53000">
              <a:schemeClr val="accent1">
                <a:lumMod val="51000"/>
                <a:lumOff val="49000"/>
              </a:schemeClr>
            </a:gs>
            <a:gs pos="31000">
              <a:schemeClr val="bg2">
                <a:tint val="97000"/>
                <a:hueMod val="92000"/>
                <a:satMod val="169000"/>
                <a:alpha val="85000"/>
                <a:lumMod val="42000"/>
              </a:schemeClr>
            </a:gs>
            <a:gs pos="81000">
              <a:schemeClr val="accent1">
                <a:lumMod val="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171035"/>
            <a:ext cx="8534400" cy="804515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lgerian" panose="04020705040A02060702" pitchFamily="82" charset="0"/>
              </a:rPr>
              <a:t>Key Features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684212" y="850653"/>
            <a:ext cx="9753567" cy="51706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2200" b="1" dirty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📄 Policy document parsing (PDF ingestion</a:t>
            </a:r>
            <a:r>
              <a:rPr lang="en-US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)</a:t>
            </a:r>
          </a:p>
          <a:p>
            <a:pPr marL="0" indent="0"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🔍 Semantic </a:t>
            </a:r>
            <a:r>
              <a:rPr lang="en-US" altLang="en-US" sz="2200" b="1" dirty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search with </a:t>
            </a:r>
            <a:r>
              <a:rPr lang="en-US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embedding's</a:t>
            </a:r>
          </a:p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 Vector </a:t>
            </a:r>
            <a:r>
              <a:rPr lang="en-US" altLang="en-US" sz="2200" b="1" dirty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store (Chroma) for fast similarity retrieval.</a:t>
            </a:r>
            <a:endParaRPr lang="en-US" altLang="en-US" sz="2200" b="1" dirty="0" smtClean="0">
              <a:ln>
                <a:solidFill>
                  <a:schemeClr val="accent1"/>
                </a:solidFill>
              </a:ln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lang="en-US" altLang="en-US" sz="2200" b="1" dirty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LLM-powered contextual </a:t>
            </a:r>
            <a:r>
              <a:rPr lang="en-US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Q&amp;A</a:t>
            </a:r>
          </a:p>
          <a:p>
            <a:pPr marL="0" indent="0"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✅ </a:t>
            </a:r>
            <a:r>
              <a:rPr lang="en-US" altLang="en-US" sz="2200" b="1" dirty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Pre-check validation </a:t>
            </a:r>
            <a:r>
              <a:rPr lang="en-US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rules</a:t>
            </a:r>
            <a:endParaRPr kumimoji="0" lang="en-US" altLang="en-US" sz="2200" b="1" i="0" u="none" strike="noStrike" cap="none" normalizeH="0" baseline="0" dirty="0" smtClean="0">
              <a:ln>
                <a:solidFill>
                  <a:schemeClr val="accent1"/>
                </a:solidFill>
              </a:ln>
              <a:solidFill>
                <a:schemeClr val="accent1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4211" y="6298659"/>
            <a:ext cx="11348903" cy="471791"/>
          </a:xfrm>
        </p:spPr>
        <p:txBody>
          <a:bodyPr/>
          <a:lstStyle/>
          <a:p>
            <a:pPr algn="r"/>
            <a:r>
              <a:rPr lang="en-US" sz="2000" b="1" dirty="0">
                <a:solidFill>
                  <a:schemeClr val="tx1">
                    <a:lumMod val="95000"/>
                  </a:schemeClr>
                </a:solidFill>
                <a:latin typeface="Rockwell" panose="02060603020205020403" pitchFamily="18" charset="0"/>
              </a:rPr>
              <a:t>Presented by Gopal</a:t>
            </a:r>
          </a:p>
        </p:txBody>
      </p:sp>
    </p:spTree>
    <p:extLst>
      <p:ext uri="{BB962C8B-B14F-4D97-AF65-F5344CB8AC3E}">
        <p14:creationId xmlns:p14="http://schemas.microsoft.com/office/powerpoint/2010/main" val="16488648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169003"/>
            <a:ext cx="8534400" cy="681650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lgerian" panose="04020705040A02060702" pitchFamily="82" charset="0"/>
              </a:rPr>
              <a:t>Demo Flow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4211" y="6298659"/>
            <a:ext cx="11348903" cy="471791"/>
          </a:xfrm>
        </p:spPr>
        <p:txBody>
          <a:bodyPr/>
          <a:lstStyle/>
          <a:p>
            <a:pPr algn="r"/>
            <a:r>
              <a:rPr lang="en-US" sz="2000" b="1" dirty="0">
                <a:solidFill>
                  <a:schemeClr val="tx1">
                    <a:lumMod val="95000"/>
                  </a:schemeClr>
                </a:solidFill>
                <a:latin typeface="Rockwell" panose="02060603020205020403" pitchFamily="18" charset="0"/>
              </a:rPr>
              <a:t>Presented by Gopal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684211" y="850654"/>
            <a:ext cx="9753567" cy="51706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IN" altLang="en-US" sz="2200" b="1" dirty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User enters query: </a:t>
            </a:r>
            <a:r>
              <a:rPr lang="en-IN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“How to </a:t>
            </a:r>
            <a:r>
              <a:rPr lang="en-IN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raise a </a:t>
            </a:r>
            <a:r>
              <a:rPr lang="en-IN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claim?”</a:t>
            </a:r>
          </a:p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IN" altLang="en-US" sz="2200" b="1" dirty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Retriever fetches relevant policy chunks.</a:t>
            </a:r>
            <a:endParaRPr lang="en-IN" altLang="en-US" sz="2200" b="1" dirty="0" smtClean="0">
              <a:ln>
                <a:solidFill>
                  <a:schemeClr val="accent1"/>
                </a:solidFill>
              </a:ln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IN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LLM generates contextual answer</a:t>
            </a:r>
          </a:p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IN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Pre-check </a:t>
            </a:r>
            <a:r>
              <a:rPr lang="en-IN" altLang="en-US" sz="2200" b="1" dirty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rules applied (e.g., waiting period, limits). </a:t>
            </a:r>
            <a:endParaRPr lang="en-IN" altLang="en-US" sz="2200" b="1" dirty="0" smtClean="0">
              <a:ln>
                <a:solidFill>
                  <a:schemeClr val="accent1"/>
                </a:solidFill>
              </a:ln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IN" altLang="en-US" sz="2200" b="1" dirty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Response displayed in Streamlit chat </a:t>
            </a:r>
            <a:r>
              <a:rPr lang="en-IN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UI</a:t>
            </a:r>
          </a:p>
        </p:txBody>
      </p:sp>
    </p:spTree>
    <p:extLst>
      <p:ext uri="{BB962C8B-B14F-4D97-AF65-F5344CB8AC3E}">
        <p14:creationId xmlns:p14="http://schemas.microsoft.com/office/powerpoint/2010/main" val="1380814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8400" y="72150"/>
            <a:ext cx="8937439" cy="715885"/>
          </a:xfrm>
        </p:spPr>
        <p:txBody>
          <a:bodyPr>
            <a:noAutofit/>
          </a:bodyPr>
          <a:lstStyle/>
          <a:p>
            <a:r>
              <a:rPr lang="en-US" sz="4800" dirty="0" smtClean="0">
                <a:latin typeface="Algerian" panose="04020705040A02060702" pitchFamily="82" charset="0"/>
              </a:rPr>
              <a:t>Sample </a:t>
            </a:r>
            <a:r>
              <a:rPr lang="en-US" sz="4800" dirty="0" smtClean="0">
                <a:latin typeface="Algerian" panose="04020705040A02060702" pitchFamily="82" charset="0"/>
              </a:rPr>
              <a:t>Chat</a:t>
            </a:r>
            <a:endParaRPr lang="en-US" sz="4800" dirty="0">
              <a:latin typeface="Algerian" panose="04020705040A02060702" pitchFamily="82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79120" y="6466114"/>
            <a:ext cx="11416348" cy="284571"/>
          </a:xfrm>
        </p:spPr>
        <p:txBody>
          <a:bodyPr/>
          <a:lstStyle/>
          <a:p>
            <a:pPr algn="r"/>
            <a:r>
              <a:rPr lang="en-US" sz="2000" b="1" dirty="0">
                <a:solidFill>
                  <a:schemeClr val="tx1">
                    <a:lumMod val="95000"/>
                  </a:schemeClr>
                </a:solidFill>
                <a:latin typeface="Rockwell" panose="02060603020205020403" pitchFamily="18" charset="0"/>
              </a:rPr>
              <a:t>Presented by Gopal</a:t>
            </a:r>
          </a:p>
        </p:txBody>
      </p:sp>
      <p:sp>
        <p:nvSpPr>
          <p:cNvPr id="14" name="Footer Placeholder 3"/>
          <p:cNvSpPr txBox="1">
            <a:spLocks/>
          </p:cNvSpPr>
          <p:nvPr/>
        </p:nvSpPr>
        <p:spPr>
          <a:xfrm>
            <a:off x="1278915" y="5628640"/>
            <a:ext cx="3974220" cy="7068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000" b="0" i="0" kern="120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ln>
                  <a:solidFill>
                    <a:schemeClr val="accent1"/>
                  </a:solidFill>
                </a:ln>
                <a:solidFill>
                  <a:schemeClr val="tx1"/>
                </a:solidFill>
                <a:latin typeface="Arial" panose="020B0604020202020204" pitchFamily="34" charset="0"/>
                <a:hlinkClick r:id="rId2"/>
              </a:rPr>
              <a:t>PolicyPal Demo - Streamlit</a:t>
            </a:r>
            <a:endParaRPr lang="en-US" altLang="en-US" sz="2000" b="1" dirty="0">
              <a:ln>
                <a:solidFill>
                  <a:schemeClr val="accent1"/>
                </a:solidFill>
              </a:ln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pic>
        <p:nvPicPr>
          <p:cNvPr id="6" name="Picture Placeholder 5"/>
          <p:cNvPicPr>
            <a:picLocks noGrp="1" noChangeAspect="1"/>
          </p:cNvPicPr>
          <p:nvPr>
            <p:ph type="pic" idx="1"/>
          </p:nvPr>
        </p:nvPicPr>
        <p:blipFill rotWithShape="1">
          <a:blip r:embed="rId3"/>
          <a:srcRect l="-414" t="-536" r="414" b="6638"/>
          <a:stretch/>
        </p:blipFill>
        <p:spPr>
          <a:xfrm>
            <a:off x="1278915" y="788035"/>
            <a:ext cx="8026401" cy="4927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836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5872"/>
            <a:ext cx="8534400" cy="804515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lgerian" panose="04020705040A02060702" pitchFamily="82" charset="0"/>
              </a:rPr>
              <a:t>Future Scope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4211" y="6298659"/>
            <a:ext cx="11348903" cy="471791"/>
          </a:xfrm>
        </p:spPr>
        <p:txBody>
          <a:bodyPr/>
          <a:lstStyle/>
          <a:p>
            <a:pPr algn="r"/>
            <a:r>
              <a:rPr lang="en-US" sz="2000" b="1" dirty="0">
                <a:solidFill>
                  <a:schemeClr val="tx1">
                    <a:lumMod val="95000"/>
                  </a:schemeClr>
                </a:solidFill>
                <a:latin typeface="Rockwell" panose="02060603020205020403" pitchFamily="18" charset="0"/>
              </a:rPr>
              <a:t>Presented by Gopal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590905" y="1413577"/>
            <a:ext cx="9753567" cy="29495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IN" altLang="en-US" sz="2200" b="1" dirty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Chat history retention (conversation memory &amp; context</a:t>
            </a:r>
            <a:r>
              <a:rPr lang="en-IN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).</a:t>
            </a:r>
          </a:p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IN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Multi-policy </a:t>
            </a:r>
            <a:r>
              <a:rPr lang="en-IN" altLang="en-US" sz="2200" b="1" dirty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support (aggregate across multiple documents</a:t>
            </a:r>
            <a:r>
              <a:rPr lang="en-IN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).</a:t>
            </a:r>
          </a:p>
          <a:p>
            <a:pPr defTabSz="914400" eaLnBrk="0" fontAlgn="base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IN" altLang="en-US" sz="2200" b="1" dirty="0" smtClean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Multilingual </a:t>
            </a:r>
            <a:r>
              <a:rPr lang="en-IN" altLang="en-US" sz="2200" b="1" dirty="0">
                <a:ln>
                  <a:solidFill>
                    <a:schemeClr val="accent1"/>
                  </a:solidFill>
                </a:ln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</a:rPr>
              <a:t>query handling for broader customer base.</a:t>
            </a:r>
            <a:endParaRPr kumimoji="0" lang="en-US" altLang="en-US" sz="2200" b="1" i="0" u="none" strike="noStrike" cap="none" normalizeH="0" baseline="0" dirty="0" smtClean="0">
              <a:ln>
                <a:solidFill>
                  <a:schemeClr val="accent1"/>
                </a:solidFill>
              </a:ln>
              <a:solidFill>
                <a:schemeClr val="accent1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5098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2313" y="549516"/>
            <a:ext cx="11987719" cy="1636230"/>
          </a:xfrm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PolicyPal = AI-powered assistant for insurance claims</a:t>
            </a:r>
            <a:endParaRPr lang="en-US" dirty="0">
              <a:latin typeface="Algerian" panose="04020705040A02060702" pitchFamily="82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09109" y="2666617"/>
            <a:ext cx="6840740" cy="854593"/>
          </a:xfrm>
        </p:spPr>
        <p:txBody>
          <a:bodyPr>
            <a:noAutofit/>
          </a:bodyPr>
          <a:lstStyle/>
          <a:p>
            <a:pPr algn="ctr"/>
            <a:r>
              <a:rPr lang="en-IN" sz="3600" b="1" dirty="0">
                <a:solidFill>
                  <a:schemeClr val="accent1">
                    <a:lumMod val="75000"/>
                  </a:schemeClr>
                </a:solidFill>
                <a:latin typeface="Imprint MT Shadow" panose="04020605060303030202" pitchFamily="82" charset="0"/>
              </a:rPr>
              <a:t>Bridging complex policy language with customer clarity</a:t>
            </a:r>
            <a:endParaRPr lang="en-US" sz="3600" b="1" dirty="0">
              <a:solidFill>
                <a:schemeClr val="accent1">
                  <a:lumMod val="75000"/>
                </a:schemeClr>
              </a:solidFill>
              <a:latin typeface="Imprint MT Shadow" panose="04020605060303030202" pitchFamily="82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35902" y="4793054"/>
            <a:ext cx="4971050" cy="411480"/>
          </a:xfrm>
        </p:spPr>
        <p:txBody>
          <a:bodyPr/>
          <a:lstStyle/>
          <a:p>
            <a:r>
              <a:rPr lang="en-US" sz="2800" b="1" dirty="0">
                <a:solidFill>
                  <a:schemeClr val="tx1">
                    <a:lumMod val="95000"/>
                  </a:schemeClr>
                </a:solidFill>
                <a:latin typeface="Rockwell" panose="02060603020205020403" pitchFamily="18" charset="0"/>
              </a:rPr>
              <a:t>Powered by Generative AI</a:t>
            </a:r>
          </a:p>
        </p:txBody>
      </p:sp>
      <p:sp>
        <p:nvSpPr>
          <p:cNvPr id="5" name="Footer Placeholder 3"/>
          <p:cNvSpPr txBox="1">
            <a:spLocks/>
          </p:cNvSpPr>
          <p:nvPr/>
        </p:nvSpPr>
        <p:spPr>
          <a:xfrm>
            <a:off x="6649720" y="5344493"/>
            <a:ext cx="4971050" cy="93640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000" b="0" i="0" kern="1200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0" b="1" dirty="0" smtClean="0">
                <a:solidFill>
                  <a:schemeClr val="tx1">
                    <a:lumMod val="95000"/>
                  </a:schemeClr>
                </a:solidFill>
                <a:latin typeface="Rockwell" panose="02060603020205020403" pitchFamily="18" charset="0"/>
              </a:rPr>
              <a:t>Thank You…</a:t>
            </a:r>
            <a:endParaRPr lang="en-US" sz="6000" b="1" dirty="0">
              <a:solidFill>
                <a:schemeClr val="tx1">
                  <a:lumMod val="95000"/>
                </a:schemeClr>
              </a:solidFill>
              <a:latin typeface="Rockwell" panose="02060603020205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93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26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4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5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6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7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8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9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0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1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2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0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41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2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43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4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45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6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47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</p:bldLst>
  </p:timing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flec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alpha val="100000"/>
                <a:satMod val="140000"/>
                <a:lumMod val="105000"/>
              </a:schemeClr>
            </a:gs>
            <a:gs pos="41000">
              <a:schemeClr val="phClr">
                <a:tint val="57000"/>
                <a:satMod val="160000"/>
                <a:lumMod val="99000"/>
              </a:schemeClr>
            </a:gs>
            <a:gs pos="100000">
              <a:schemeClr val="phClr">
                <a:tint val="80000"/>
                <a:satMod val="180000"/>
                <a:lumMod val="104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7000"/>
                <a:satMod val="115000"/>
                <a:lumMod val="114000"/>
              </a:schemeClr>
            </a:gs>
            <a:gs pos="60000">
              <a:schemeClr val="phClr">
                <a:tint val="100000"/>
                <a:shade val="96000"/>
                <a:satMod val="100000"/>
                <a:lumMod val="108000"/>
              </a:schemeClr>
            </a:gs>
            <a:gs pos="100000">
              <a:schemeClr val="phClr">
                <a:shade val="91000"/>
                <a:sat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50800" dist="31750" dir="5400000" sy="98000" rotWithShape="0">
              <a:srgbClr val="000000">
                <a:alpha val="47000"/>
              </a:srgbClr>
            </a:outerShdw>
          </a:effectLst>
          <a:scene3d>
            <a:camera prst="orthographicFront">
              <a:rot lat="0" lon="0" rev="0"/>
            </a:camera>
            <a:lightRig rig="twoPt" dir="t">
              <a:rot lat="0" lon="0" rev="4800000"/>
            </a:lightRig>
          </a:scene3d>
          <a:sp3d prstMaterial="matte">
            <a:bevelT w="25400" h="44450"/>
          </a:sp3d>
        </a:effectStyle>
        <a:effectStyle>
          <a:effectLst>
            <a:reflection blurRad="25400" stA="32000" endPos="28000" dist="8889" dir="5400000" sy="-100000" rotWithShape="0"/>
          </a:effectLst>
          <a:scene3d>
            <a:camera prst="orthographicFront">
              <a:rot lat="0" lon="0" rev="0"/>
            </a:camera>
            <a:lightRig rig="threePt" dir="t">
              <a:rot lat="0" lon="0" rev="4800000"/>
            </a:lightRig>
          </a:scene3d>
          <a:sp3d>
            <a:bevelT w="508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Slice">
    <a:dk1>
      <a:sysClr val="windowText" lastClr="000000"/>
    </a:dk1>
    <a:lt1>
      <a:sysClr val="window" lastClr="FFFFFF"/>
    </a:lt1>
    <a:dk2>
      <a:srgbClr val="146194"/>
    </a:dk2>
    <a:lt2>
      <a:srgbClr val="76DBF4"/>
    </a:lt2>
    <a:accent1>
      <a:srgbClr val="052F61"/>
    </a:accent1>
    <a:accent2>
      <a:srgbClr val="A50E82"/>
    </a:accent2>
    <a:accent3>
      <a:srgbClr val="14967C"/>
    </a:accent3>
    <a:accent4>
      <a:srgbClr val="6A9E1F"/>
    </a:accent4>
    <a:accent5>
      <a:srgbClr val="E87D37"/>
    </a:accent5>
    <a:accent6>
      <a:srgbClr val="C62324"/>
    </a:accent6>
    <a:hlink>
      <a:srgbClr val="0D2E46"/>
    </a:hlink>
    <a:folHlink>
      <a:srgbClr val="356A95"/>
    </a:folHlink>
  </a:clrScheme>
</a:themeOverride>
</file>

<file path=ppt/theme/themeOverride2.xml><?xml version="1.0" encoding="utf-8"?>
<a:themeOverride xmlns:a="http://schemas.openxmlformats.org/drawingml/2006/main">
  <a:clrScheme name="Slice">
    <a:dk1>
      <a:sysClr val="windowText" lastClr="000000"/>
    </a:dk1>
    <a:lt1>
      <a:sysClr val="window" lastClr="FFFFFF"/>
    </a:lt1>
    <a:dk2>
      <a:srgbClr val="146194"/>
    </a:dk2>
    <a:lt2>
      <a:srgbClr val="76DBF4"/>
    </a:lt2>
    <a:accent1>
      <a:srgbClr val="052F61"/>
    </a:accent1>
    <a:accent2>
      <a:srgbClr val="A50E82"/>
    </a:accent2>
    <a:accent3>
      <a:srgbClr val="14967C"/>
    </a:accent3>
    <a:accent4>
      <a:srgbClr val="6A9E1F"/>
    </a:accent4>
    <a:accent5>
      <a:srgbClr val="E87D37"/>
    </a:accent5>
    <a:accent6>
      <a:srgbClr val="C62324"/>
    </a:accent6>
    <a:hlink>
      <a:srgbClr val="0D2E46"/>
    </a:hlink>
    <a:folHlink>
      <a:srgbClr val="356A95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663</TotalTime>
  <Words>243</Words>
  <Application>Microsoft Office PowerPoint</Application>
  <PresentationFormat>Widescreen</PresentationFormat>
  <Paragraphs>43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Algerian</vt:lpstr>
      <vt:lpstr>Arial</vt:lpstr>
      <vt:lpstr>Calibri</vt:lpstr>
      <vt:lpstr>Century Gothic</vt:lpstr>
      <vt:lpstr>Imprint MT Shadow</vt:lpstr>
      <vt:lpstr>Rockwell</vt:lpstr>
      <vt:lpstr>Wingdings</vt:lpstr>
      <vt:lpstr>Wingdings 3</vt:lpstr>
      <vt:lpstr>Slice</vt:lpstr>
      <vt:lpstr>Policypal - Policy &amp; Claims Copilot</vt:lpstr>
      <vt:lpstr>Problem Statement</vt:lpstr>
      <vt:lpstr>Solution Overview</vt:lpstr>
      <vt:lpstr>System Architecture</vt:lpstr>
      <vt:lpstr>Key Features</vt:lpstr>
      <vt:lpstr>Demo Flow</vt:lpstr>
      <vt:lpstr>Sample Chat</vt:lpstr>
      <vt:lpstr>Future Scope</vt:lpstr>
      <vt:lpstr>PolicyPal = AI-powered assistant for insurance claims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Gopal</dc:creator>
  <cp:lastModifiedBy>Gopal</cp:lastModifiedBy>
  <cp:revision>44</cp:revision>
  <dcterms:created xsi:type="dcterms:W3CDTF">2026-08-05T11:15:42Z</dcterms:created>
  <dcterms:modified xsi:type="dcterms:W3CDTF">2026-08-18T09:20:19Z</dcterms:modified>
</cp:coreProperties>
</file>