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8AF2"/>
    <a:srgbClr val="49B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6431-A8D6-4564-A742-228ED5F358FD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1B8A7-1CF8-4959-AE04-4A844F6C7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8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E725-7F70-40B3-93A4-69B9B8AE451F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19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6CEC-0797-4E2D-A9FC-CABF447D146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4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AB1A-C885-41C4-B8D1-2E1CF05A77B3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22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7869-0DBC-489A-AFC0-058C02FFB847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0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7050C-E672-4145-A0AD-C47F6A645A9F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0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D6EB-432B-4E03-85C5-833AF7CEFAB0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4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A2DDA-0CB3-49DA-AA22-4068F08D686B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6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A749-2E28-40C1-918B-1BE37604AAA9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63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51D0-804A-4A0B-B70A-DF407DD846C6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7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28F55-315B-4EAF-8395-4E3BF934269F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4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29C3-53E6-454A-B61B-176D1BB2F74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25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671D-405C-4FF1-8794-D11A168AE62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4949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EC34-93C3-43A0-8E20-5E1946826F5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65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AC21-8591-422B-9A86-3A0D937AE7F4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5191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DB9F-67FE-44F0-BE2C-FB7F89A9820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45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89FB-7382-4503-85DE-E27B2D7EB547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48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24183-6A8D-452F-AF4E-3FB139217415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accent1">
                <a:lumMod val="51000"/>
                <a:lumOff val="49000"/>
              </a:schemeClr>
            </a:gs>
            <a:gs pos="31000">
              <a:schemeClr val="bg2">
                <a:tint val="97000"/>
                <a:hueMod val="92000"/>
                <a:satMod val="169000"/>
                <a:alpha val="85000"/>
                <a:lumMod val="42000"/>
              </a:schemeClr>
            </a:gs>
            <a:gs pos="81000">
              <a:schemeClr val="accent1">
                <a:lumMod val="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77B5FBA-2FBA-4F8D-8463-1AB8E96A9E27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Presented by Gopal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1009A3D-BD1F-4C61-AD6F-60BD5D723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193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281" y="1622537"/>
            <a:ext cx="11987719" cy="1636230"/>
          </a:xfrm>
        </p:spPr>
        <p:txBody>
          <a:bodyPr/>
          <a:lstStyle/>
          <a:p>
            <a:pPr algn="ctr"/>
            <a:r>
              <a:rPr lang="en-US" dirty="0" smtClean="0">
                <a:latin typeface="Algerian" panose="04020705040A02060702" pitchFamily="82" charset="0"/>
              </a:rPr>
              <a:t>Policypal - Policy </a:t>
            </a:r>
            <a:r>
              <a:rPr lang="en-US" dirty="0">
                <a:latin typeface="Algerian" panose="04020705040A02060702" pitchFamily="82" charset="0"/>
              </a:rPr>
              <a:t>&amp; </a:t>
            </a:r>
            <a:r>
              <a:rPr lang="en-US" dirty="0" smtClean="0">
                <a:latin typeface="Algerian" panose="04020705040A02060702" pitchFamily="82" charset="0"/>
              </a:rPr>
              <a:t>Claims </a:t>
            </a:r>
            <a:r>
              <a:rPr lang="en-US" dirty="0">
                <a:latin typeface="Algerian" panose="04020705040A02060702" pitchFamily="82" charset="0"/>
              </a:rPr>
              <a:t>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7740" y="3499634"/>
            <a:ext cx="6400800" cy="85459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Imprint MT Shadow" panose="04020605060303030202" pitchFamily="82" charset="0"/>
              </a:rPr>
              <a:t>AI-powered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Imprint MT Shadow" panose="04020605060303030202" pitchFamily="82" charset="0"/>
              </a:rPr>
              <a:t>Policy Assistance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91440" y="6304280"/>
            <a:ext cx="12052570" cy="403698"/>
          </a:xfrm>
        </p:spPr>
        <p:txBody>
          <a:bodyPr/>
          <a:lstStyle/>
          <a:p>
            <a:pPr algn="r"/>
            <a:r>
              <a:rPr lang="en-US" sz="2000" b="1" dirty="0" smtClean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27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53000">
              <a:schemeClr val="accent1">
                <a:lumMod val="51000"/>
                <a:lumOff val="49000"/>
              </a:schemeClr>
            </a:gs>
            <a:gs pos="31000">
              <a:schemeClr val="bg2">
                <a:tint val="97000"/>
                <a:hueMod val="92000"/>
                <a:satMod val="169000"/>
                <a:alpha val="85000"/>
                <a:lumMod val="42000"/>
              </a:schemeClr>
            </a:gs>
            <a:gs pos="81000">
              <a:schemeClr val="accent1">
                <a:lumMod val="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75708"/>
            <a:ext cx="8534400" cy="80451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84211" y="1332051"/>
            <a:ext cx="9753567" cy="396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Customers struggle to interpret complex insurance policies.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Manual support is slow, inconsistent, and costly.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Claims teams spend time on repetitive, rule-based checks.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Business needs instant, accurate, contextual answers</a:t>
            </a:r>
            <a:r>
              <a:rPr kumimoji="0" lang="en-US" altLang="en-US" sz="2200" b="1" i="0" u="none" strike="noStrike" cap="none" normalizeH="0" baseline="0" dirty="0" smtClean="0">
                <a:ln>
                  <a:solidFill>
                    <a:schemeClr val="accent1"/>
                  </a:solidFill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1" y="6298659"/>
            <a:ext cx="11348903" cy="47179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</p:spTree>
    <p:extLst>
      <p:ext uri="{BB962C8B-B14F-4D97-AF65-F5344CB8AC3E}">
        <p14:creationId xmlns:p14="http://schemas.microsoft.com/office/powerpoint/2010/main" val="3541068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375338"/>
            <a:ext cx="8534400" cy="80451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Solution Overview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1" y="6386209"/>
            <a:ext cx="11348903" cy="47179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72451" y="1084988"/>
            <a:ext cx="105222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PolicyPal Chatbot built with Retrieval-Augmented Generation (RAG) + LLM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Provides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natural language Q&amp;A on policy documents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Applies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pre-check validation rules for </a:t>
            </a:r>
            <a:r>
              <a:rPr lang="en-US" altLang="en-US" sz="2200" b="1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quick </a:t>
            </a:r>
            <a:r>
              <a:rPr lang="en-US" altLang="en-US" sz="2200" b="1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response.</a:t>
            </a:r>
            <a:endParaRPr lang="en-US" altLang="en-US" sz="2200" b="1" dirty="0" smtClean="0">
              <a:ln>
                <a:solidFill>
                  <a:schemeClr val="accent1"/>
                </a:solidFill>
              </a:ln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Integrates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with existing policy PDFs and scales to multiple policies.</a:t>
            </a:r>
            <a:endParaRPr kumimoji="0" lang="en-US" altLang="en-US" sz="2200" b="1" i="0" u="none" strike="noStrike" cap="none" normalizeH="0" baseline="0" dirty="0" smtClean="0">
              <a:ln>
                <a:solidFill>
                  <a:schemeClr val="accent1"/>
                </a:solidFill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8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72150"/>
            <a:ext cx="9526719" cy="71588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79120" y="6466114"/>
            <a:ext cx="11416348" cy="28457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" b="1067"/>
          <a:stretch>
            <a:fillRect/>
          </a:stretch>
        </p:blipFill>
        <p:spPr>
          <a:xfrm>
            <a:off x="65314" y="788036"/>
            <a:ext cx="12055151" cy="5678078"/>
          </a:xfrm>
        </p:spPr>
      </p:pic>
    </p:spTree>
    <p:extLst>
      <p:ext uri="{BB962C8B-B14F-4D97-AF65-F5344CB8AC3E}">
        <p14:creationId xmlns:p14="http://schemas.microsoft.com/office/powerpoint/2010/main" val="309441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53000">
              <a:schemeClr val="accent1">
                <a:lumMod val="51000"/>
                <a:lumOff val="49000"/>
              </a:schemeClr>
            </a:gs>
            <a:gs pos="31000">
              <a:schemeClr val="bg2">
                <a:tint val="97000"/>
                <a:hueMod val="92000"/>
                <a:satMod val="169000"/>
                <a:alpha val="85000"/>
                <a:lumMod val="42000"/>
              </a:schemeClr>
            </a:gs>
            <a:gs pos="81000">
              <a:schemeClr val="accent1">
                <a:lumMod val="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171035"/>
            <a:ext cx="8534400" cy="80451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Key Features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84212" y="850653"/>
            <a:ext cx="975356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📄 Policy document parsing (PDF ingestion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marL="0" indent="0"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🔍 Semantic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search with 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embedding's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 Vector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store (Chroma) for fast similarity retrieval.</a:t>
            </a:r>
            <a:endParaRPr lang="en-US" altLang="en-US" sz="2200" b="1" dirty="0" smtClean="0">
              <a:ln>
                <a:solidFill>
                  <a:schemeClr val="accent1"/>
                </a:solidFill>
              </a:ln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LLM-powered contextual 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Q&amp;A</a:t>
            </a:r>
          </a:p>
          <a:p>
            <a:pPr marL="0" indent="0"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✅ </a:t>
            </a:r>
            <a:r>
              <a:rPr lang="en-US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Pre-check validation </a:t>
            </a:r>
            <a:r>
              <a:rPr lang="en-US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rules</a:t>
            </a:r>
            <a:endParaRPr kumimoji="0" lang="en-US" altLang="en-US" sz="2200" b="1" i="0" u="none" strike="noStrike" cap="none" normalizeH="0" baseline="0" dirty="0" smtClean="0">
              <a:ln>
                <a:solidFill>
                  <a:schemeClr val="accent1"/>
                </a:solidFill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1" y="6298659"/>
            <a:ext cx="11348903" cy="47179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</p:spTree>
    <p:extLst>
      <p:ext uri="{BB962C8B-B14F-4D97-AF65-F5344CB8AC3E}">
        <p14:creationId xmlns:p14="http://schemas.microsoft.com/office/powerpoint/2010/main" val="164886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169003"/>
            <a:ext cx="8534400" cy="681650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Demo Flow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1" y="6298659"/>
            <a:ext cx="11348903" cy="47179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84211" y="850654"/>
            <a:ext cx="975356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User enters query: </a:t>
            </a: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“How to raise claim?”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Retriever fetches relevant policy chunks.</a:t>
            </a:r>
            <a:endParaRPr lang="en-IN" altLang="en-US" sz="2200" b="1" dirty="0" smtClean="0">
              <a:ln>
                <a:solidFill>
                  <a:schemeClr val="accent1"/>
                </a:solidFill>
              </a:ln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LLM generates contextual answer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Pre-check </a:t>
            </a: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rules applied (e.g., waiting period, limits). </a:t>
            </a:r>
            <a:endParaRPr lang="en-IN" altLang="en-US" sz="2200" b="1" dirty="0" smtClean="0">
              <a:ln>
                <a:solidFill>
                  <a:schemeClr val="accent1"/>
                </a:solidFill>
              </a:ln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Response displayed in Streamlit chat </a:t>
            </a: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138081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72150"/>
            <a:ext cx="9526719" cy="715885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Algerian" panose="04020705040A02060702" pitchFamily="82" charset="0"/>
              </a:rPr>
              <a:t>Sample </a:t>
            </a:r>
            <a:r>
              <a:rPr lang="en-US" sz="4800" dirty="0" err="1" smtClean="0">
                <a:latin typeface="Algerian" panose="04020705040A02060702" pitchFamily="82" charset="0"/>
              </a:rPr>
              <a:t>CHats</a:t>
            </a:r>
            <a:endParaRPr lang="en-US" sz="4800" dirty="0">
              <a:latin typeface="Algerian" panose="04020705040A02060702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79120" y="6466114"/>
            <a:ext cx="11416348" cy="28457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805" t="1147" r="1125" b="22815"/>
          <a:stretch/>
        </p:blipFill>
        <p:spPr>
          <a:xfrm>
            <a:off x="1306908" y="788035"/>
            <a:ext cx="8966097" cy="4399785"/>
          </a:xfrm>
          <a:prstGeom prst="rect">
            <a:avLst/>
          </a:prstGeom>
        </p:spPr>
      </p:pic>
      <p:sp>
        <p:nvSpPr>
          <p:cNvPr id="14" name="Footer Placeholder 3"/>
          <p:cNvSpPr txBox="1">
            <a:spLocks/>
          </p:cNvSpPr>
          <p:nvPr/>
        </p:nvSpPr>
        <p:spPr>
          <a:xfrm>
            <a:off x="1278915" y="5187820"/>
            <a:ext cx="3974220" cy="114766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PolicyPal Demo - Streamlit</a:t>
            </a:r>
            <a:endParaRPr lang="en-US" altLang="en-US" sz="2000" b="1" dirty="0">
              <a:ln>
                <a:solidFill>
                  <a:schemeClr val="accent1"/>
                </a:solidFill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3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5872"/>
            <a:ext cx="8534400" cy="804515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4211" y="6298659"/>
            <a:ext cx="11348903" cy="471791"/>
          </a:xfrm>
        </p:spPr>
        <p:txBody>
          <a:bodyPr/>
          <a:lstStyle/>
          <a:p>
            <a:pPr algn="r"/>
            <a:r>
              <a:rPr lang="en-US" sz="20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Presented by Gopal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90905" y="1413577"/>
            <a:ext cx="9753567" cy="294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Chat history retention (conversation memory &amp; context</a:t>
            </a: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).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Multi-policy </a:t>
            </a: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support (aggregate across multiple documents</a:t>
            </a: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).</a:t>
            </a:r>
          </a:p>
          <a:p>
            <a:pPr defTabSz="9144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altLang="en-US" sz="2200" b="1" dirty="0" smtClean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Multilingual </a:t>
            </a:r>
            <a:r>
              <a:rPr lang="en-IN" altLang="en-US" sz="2200" b="1" dirty="0">
                <a:ln>
                  <a:solidFill>
                    <a:schemeClr val="accent1"/>
                  </a:solidFill>
                </a:ln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</a:rPr>
              <a:t>query handling for broader customer base.</a:t>
            </a:r>
            <a:endParaRPr kumimoji="0" lang="en-US" altLang="en-US" sz="2200" b="1" i="0" u="none" strike="noStrike" cap="none" normalizeH="0" baseline="0" dirty="0" smtClean="0">
              <a:ln>
                <a:solidFill>
                  <a:schemeClr val="accent1"/>
                </a:solidFill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09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313" y="549516"/>
            <a:ext cx="11987719" cy="1636230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PolicyPal = AI-powered assistant for insurance claims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9109" y="2666617"/>
            <a:ext cx="6840740" cy="854593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Imprint MT Shadow" panose="04020605060303030202" pitchFamily="82" charset="0"/>
              </a:rPr>
              <a:t>Bridging complex policy language with customer clarity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Imprint MT Shadow" panose="04020605060303030202" pitchFamily="8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902" y="4793054"/>
            <a:ext cx="4971050" cy="411480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Powered by Generative AI</a:t>
            </a: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6649720" y="5344493"/>
            <a:ext cx="4971050" cy="93640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 smtClean="0">
                <a:solidFill>
                  <a:schemeClr val="tx1">
                    <a:lumMod val="95000"/>
                  </a:schemeClr>
                </a:solidFill>
                <a:latin typeface="Rockwell" panose="02060603020205020403" pitchFamily="18" charset="0"/>
              </a:rPr>
              <a:t>Thank You…</a:t>
            </a:r>
            <a:endParaRPr lang="en-US" sz="6000" b="1" dirty="0">
              <a:solidFill>
                <a:schemeClr val="tx1">
                  <a:lumMod val="95000"/>
                </a:schemeClr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3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242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Calibri</vt:lpstr>
      <vt:lpstr>Century Gothic</vt:lpstr>
      <vt:lpstr>Imprint MT Shadow</vt:lpstr>
      <vt:lpstr>Rockwell</vt:lpstr>
      <vt:lpstr>Wingdings</vt:lpstr>
      <vt:lpstr>Wingdings 3</vt:lpstr>
      <vt:lpstr>Slice</vt:lpstr>
      <vt:lpstr>Policypal - Policy &amp; Claims Copilot</vt:lpstr>
      <vt:lpstr>Problem Statement</vt:lpstr>
      <vt:lpstr>Solution Overview</vt:lpstr>
      <vt:lpstr>System Architecture</vt:lpstr>
      <vt:lpstr>Key Features</vt:lpstr>
      <vt:lpstr>Demo Flow</vt:lpstr>
      <vt:lpstr>Sample CHats</vt:lpstr>
      <vt:lpstr>Future Scope</vt:lpstr>
      <vt:lpstr>PolicyPal = AI-powered assistant for insurance claims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</dc:creator>
  <cp:lastModifiedBy>Gopal</cp:lastModifiedBy>
  <cp:revision>41</cp:revision>
  <dcterms:created xsi:type="dcterms:W3CDTF">2026-08-05T11:15:42Z</dcterms:created>
  <dcterms:modified xsi:type="dcterms:W3CDTF">2026-08-17T12:36:20Z</dcterms:modified>
</cp:coreProperties>
</file>